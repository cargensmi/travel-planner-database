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2"/>
  </p:sldMasterIdLst>
  <p:notesMasterIdLst>
    <p:notesMasterId r:id="rId4"/>
  </p:notesMasterIdLst>
  <p:handoutMasterIdLst>
    <p:handoutMasterId r:id="rId5"/>
  </p:handoutMasterIdLst>
  <p:sldIdLst>
    <p:sldId id="256" r:id="rId3"/>
  </p:sldIdLst>
  <p:sldSz cx="43891200" cy="32918400"/>
  <p:notesSz cx="6858000" cy="9144000"/>
  <p:defaultTextStyle>
    <a:defPPr>
      <a:defRPr lang="en-US"/>
    </a:defPPr>
    <a:lvl1pPr marL="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79" autoAdjust="0"/>
    <p:restoredTop sz="94660"/>
  </p:normalViewPr>
  <p:slideViewPr>
    <p:cSldViewPr snapToGrid="0">
      <p:cViewPr varScale="1">
        <p:scale>
          <a:sx n="23" d="100"/>
          <a:sy n="23" d="100"/>
        </p:scale>
        <p:origin x="77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9" d="100"/>
          <a:sy n="69" d="100"/>
        </p:scale>
        <p:origin x="2706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0B079-A316-4C9B-B165-DF9EA8325D2C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0EAE6-B4B6-49B7-9049-B371250BE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663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28AB8-57D1-494F-9851-055AD867E790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C7F044-5458-4B2E-BFA0-52AAA1C52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08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nstructions"/>
          <p:cNvSpPr/>
          <p:nvPr userDrawn="1"/>
        </p:nvSpPr>
        <p:spPr>
          <a:xfrm>
            <a:off x="44302680" y="-1"/>
            <a:ext cx="12447270" cy="3291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74320" rtlCol="0" anchor="t"/>
          <a:lstStyle/>
          <a:p>
            <a:pPr lvl="0">
              <a:spcBef>
                <a:spcPts val="1200"/>
              </a:spcBef>
            </a:pPr>
            <a:r>
              <a:rPr sz="9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Printing:</a:t>
            </a:r>
          </a:p>
          <a:p>
            <a:pPr lvl="0">
              <a:spcBef>
                <a:spcPts val="1200"/>
              </a:spcBef>
            </a:pP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This poster is 48” wide by 36” high. It’s designed to be printed on a large-format printer.</a:t>
            </a:r>
          </a:p>
          <a:p>
            <a:pPr lvl="0">
              <a:spcBef>
                <a:spcPts val="300"/>
              </a:spcBef>
            </a:pPr>
            <a:endParaRPr sz="6000" dirty="0">
              <a:solidFill>
                <a:prstClr val="white">
                  <a:lumMod val="50000"/>
                </a:prstClr>
              </a:solidFill>
              <a:latin typeface="Calibri Light" panose="020F0302020204030204" pitchFamily="34" charset="0"/>
              <a:cs typeface="Calibri" panose="020F0502020204030204" pitchFamily="34" charset="0"/>
            </a:endParaRPr>
          </a:p>
          <a:p>
            <a:pPr lvl="0">
              <a:spcBef>
                <a:spcPts val="1200"/>
              </a:spcBef>
            </a:pPr>
            <a:r>
              <a:rPr sz="88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Customizing the Content:</a:t>
            </a:r>
          </a:p>
          <a:p>
            <a:pPr lvl="0">
              <a:spcBef>
                <a:spcPts val="1200"/>
              </a:spcBef>
            </a:pP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The placeholders in this 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poster </a:t>
            </a: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are formatted for you. 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Type</a:t>
            </a:r>
            <a:r>
              <a:rPr lang="en-US" sz="6600" baseline="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 in the placeholders 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to add text, or c</a:t>
            </a:r>
            <a:r>
              <a:rPr lang="en-US" sz="6600" baseline="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lick an icon to add a table, chart, SmartArt graphic, picture or multimedia file.</a:t>
            </a:r>
          </a:p>
          <a:p>
            <a:pPr lvl="0">
              <a:spcBef>
                <a:spcPts val="2400"/>
              </a:spcBef>
            </a:pP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</a:t>
            </a: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o add or remove bullet points from text, click the Bullets button on the Home tab.</a:t>
            </a:r>
          </a:p>
          <a:p>
            <a:pPr lvl="0">
              <a:spcBef>
                <a:spcPts val="2400"/>
              </a:spcBef>
            </a:pP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If you need more placeholders for titles, 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content</a:t>
            </a: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 or body text, make a copy of what you need and drag it into place. PowerPoint’s Smart Guides will help you align it with everything else.</a:t>
            </a:r>
          </a:p>
          <a:p>
            <a:pPr lvl="0">
              <a:spcBef>
                <a:spcPts val="2400"/>
              </a:spcBef>
            </a:pP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Want to use your own picture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s</a:t>
            </a: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 instead of ours? No problem!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 Just click a picture, press the Delete key, then click the icon to add your picture.</a:t>
            </a:r>
            <a:endParaRPr sz="6600" dirty="0">
              <a:solidFill>
                <a:prstClr val="white">
                  <a:lumMod val="50000"/>
                </a:prstClr>
              </a:solidFill>
              <a:latin typeface="Calibri Light" panose="020F03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6"/>
          <p:cNvSpPr>
            <a:spLocks noGrp="1"/>
          </p:cNvSpPr>
          <p:nvPr>
            <p:ph type="body" sz="quarter" idx="36"/>
          </p:nvPr>
        </p:nvSpPr>
        <p:spPr bwMode="auto">
          <a:xfrm>
            <a:off x="1158240" y="4093905"/>
            <a:ext cx="30174412" cy="646331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chemeClr val="bg1">
                    <a:lumMod val="75000"/>
                  </a:schemeClr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143000" y="5669280"/>
            <a:ext cx="12801600" cy="128016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540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9" hasCustomPrompt="1"/>
          </p:nvPr>
        </p:nvSpPr>
        <p:spPr bwMode="ltGray">
          <a:xfrm>
            <a:off x="1143000" y="7114032"/>
            <a:ext cx="12801600" cy="2732574"/>
          </a:xfrm>
          <a:solidFill>
            <a:schemeClr val="tx2">
              <a:lumMod val="10000"/>
              <a:lumOff val="90000"/>
            </a:schemeClr>
          </a:solidFill>
        </p:spPr>
        <p:txBody>
          <a:bodyPr lIns="365760" rIns="365760" anchor="ctr">
            <a:noAutofit/>
          </a:bodyPr>
          <a:lstStyle>
            <a:lvl1pPr marL="0" indent="0">
              <a:spcBef>
                <a:spcPts val="1200"/>
              </a:spcBef>
              <a:buFont typeface="Arial" panose="020B0604020202020204" pitchFamily="34" charset="0"/>
              <a:buNone/>
              <a:defRPr sz="4400" baseline="0"/>
            </a:lvl1pPr>
            <a:lvl2pPr marL="571500" indent="-571500">
              <a:spcBef>
                <a:spcPts val="1200"/>
              </a:spcBef>
              <a:buFont typeface="Arial" panose="020B0604020202020204" pitchFamily="34" charset="0"/>
              <a:buChar char="•"/>
              <a:defRPr sz="4400"/>
            </a:lvl2pPr>
            <a:lvl3pPr marL="571500" indent="-571500">
              <a:spcBef>
                <a:spcPts val="1200"/>
              </a:spcBef>
              <a:buFont typeface="Arial" panose="020B0604020202020204" pitchFamily="34" charset="0"/>
              <a:buChar char="•"/>
              <a:defRPr sz="4400"/>
            </a:lvl3pPr>
            <a:lvl4pPr marL="0" indent="0">
              <a:spcBef>
                <a:spcPts val="1200"/>
              </a:spcBef>
              <a:buNone/>
              <a:defRPr sz="4400"/>
            </a:lvl4pPr>
            <a:lvl5pPr marL="0" indent="0">
              <a:spcBef>
                <a:spcPts val="1200"/>
              </a:spcBef>
              <a:buNone/>
              <a:defRPr sz="4400"/>
            </a:lvl5pPr>
            <a:lvl6pPr marL="0" indent="0">
              <a:spcBef>
                <a:spcPts val="1200"/>
              </a:spcBef>
              <a:buNone/>
              <a:defRPr sz="4400"/>
            </a:lvl6pPr>
            <a:lvl7pPr marL="0" indent="0">
              <a:spcBef>
                <a:spcPts val="1200"/>
              </a:spcBef>
              <a:buNone/>
              <a:defRPr sz="4400"/>
            </a:lvl7pPr>
            <a:lvl8pPr marL="0" indent="0">
              <a:spcBef>
                <a:spcPts val="1200"/>
              </a:spcBef>
              <a:buNone/>
              <a:defRPr sz="4400"/>
            </a:lvl8pPr>
            <a:lvl9pPr marL="0" indent="0">
              <a:spcBef>
                <a:spcPts val="1200"/>
              </a:spcBef>
              <a:buNone/>
              <a:defRPr sz="4400"/>
            </a:lvl9pPr>
          </a:lstStyle>
          <a:p>
            <a:pPr lvl="0"/>
            <a:r>
              <a:rPr lang="en-US" dirty="0"/>
              <a:t>Type your question or a statement of the problem here</a:t>
            </a: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37" hasCustomPrompt="1"/>
          </p:nvPr>
        </p:nvSpPr>
        <p:spPr>
          <a:xfrm>
            <a:off x="1143000" y="10497312"/>
            <a:ext cx="12801600" cy="128016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540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7" name="Content Placeholder 17"/>
          <p:cNvSpPr>
            <a:spLocks noGrp="1"/>
          </p:cNvSpPr>
          <p:nvPr>
            <p:ph sz="quarter" idx="38" hasCustomPrompt="1"/>
          </p:nvPr>
        </p:nvSpPr>
        <p:spPr>
          <a:xfrm>
            <a:off x="1143000" y="11868912"/>
            <a:ext cx="12801600" cy="2807506"/>
          </a:xfrm>
        </p:spPr>
        <p:txBody>
          <a:bodyPr lIns="91440" tIns="182880"/>
          <a:lstStyle>
            <a:lvl1pPr>
              <a:defRPr sz="3200" baseline="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1143000" y="14950440"/>
            <a:ext cx="12801600" cy="12192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540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0" name="Content Placeholder 17"/>
          <p:cNvSpPr>
            <a:spLocks noGrp="1"/>
          </p:cNvSpPr>
          <p:nvPr>
            <p:ph sz="quarter" idx="25" hasCustomPrompt="1"/>
          </p:nvPr>
        </p:nvSpPr>
        <p:spPr>
          <a:xfrm>
            <a:off x="1143000" y="16440912"/>
            <a:ext cx="12801600" cy="6027461"/>
          </a:xfrm>
        </p:spPr>
        <p:txBody>
          <a:bodyPr lIns="91440" tIns="182880"/>
          <a:lstStyle>
            <a:lvl1pPr>
              <a:defRPr sz="3200" baseline="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143000" y="22887432"/>
            <a:ext cx="12801600" cy="12192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540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1" name="Content Placeholder 17"/>
          <p:cNvSpPr>
            <a:spLocks noGrp="1"/>
          </p:cNvSpPr>
          <p:nvPr>
            <p:ph sz="quarter" idx="26" hasCustomPrompt="1"/>
          </p:nvPr>
        </p:nvSpPr>
        <p:spPr>
          <a:xfrm>
            <a:off x="1143000" y="24332184"/>
            <a:ext cx="12801600" cy="7296912"/>
          </a:xfrm>
        </p:spPr>
        <p:txBody>
          <a:bodyPr lIns="91440" tIns="182880"/>
          <a:lstStyle>
            <a:lvl1pPr>
              <a:defRPr sz="3200" baseline="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5544800" y="5669280"/>
            <a:ext cx="12801600" cy="12192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540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2" name="Content Placeholder 17"/>
          <p:cNvSpPr>
            <a:spLocks noGrp="1"/>
          </p:cNvSpPr>
          <p:nvPr>
            <p:ph sz="quarter" idx="27" hasCustomPrompt="1"/>
          </p:nvPr>
        </p:nvSpPr>
        <p:spPr>
          <a:xfrm>
            <a:off x="15544800" y="7114032"/>
            <a:ext cx="12801600" cy="6795556"/>
          </a:xfrm>
        </p:spPr>
        <p:txBody>
          <a:bodyPr lIns="91440" tIns="182880"/>
          <a:lstStyle>
            <a:lvl1pPr>
              <a:defRPr sz="3200" baseline="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40" hasCustomPrompt="1"/>
          </p:nvPr>
        </p:nvSpPr>
        <p:spPr>
          <a:xfrm>
            <a:off x="15544800" y="14328648"/>
            <a:ext cx="12801600" cy="12192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540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23" hasCustomPrompt="1"/>
          </p:nvPr>
        </p:nvSpPr>
        <p:spPr>
          <a:xfrm>
            <a:off x="15544800" y="15773399"/>
            <a:ext cx="12801600" cy="6694973"/>
          </a:xfrm>
        </p:spPr>
        <p:txBody>
          <a:bodyPr lIns="91440" tIns="182880"/>
          <a:lstStyle>
            <a:lvl1pPr>
              <a:defRPr sz="3200" baseline="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5544800" y="22887432"/>
            <a:ext cx="12801600" cy="12192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540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5" name="Content Placeholder 17"/>
          <p:cNvSpPr>
            <a:spLocks noGrp="1"/>
          </p:cNvSpPr>
          <p:nvPr>
            <p:ph sz="quarter" idx="30" hasCustomPrompt="1"/>
          </p:nvPr>
        </p:nvSpPr>
        <p:spPr>
          <a:xfrm>
            <a:off x="15544800" y="24332184"/>
            <a:ext cx="12801600" cy="7296912"/>
          </a:xfrm>
        </p:spPr>
        <p:txBody>
          <a:bodyPr lIns="91440" tIns="182880"/>
          <a:lstStyle>
            <a:lvl1pPr>
              <a:defRPr sz="3200" baseline="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26" name="Text Placeholder 6"/>
          <p:cNvSpPr>
            <a:spLocks noGrp="1"/>
          </p:cNvSpPr>
          <p:nvPr>
            <p:ph type="body" sz="quarter" idx="31" hasCustomPrompt="1"/>
          </p:nvPr>
        </p:nvSpPr>
        <p:spPr>
          <a:xfrm>
            <a:off x="29900880" y="5669280"/>
            <a:ext cx="12801600" cy="12192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540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7" name="Content Placeholder 17"/>
          <p:cNvSpPr>
            <a:spLocks noGrp="1"/>
          </p:cNvSpPr>
          <p:nvPr>
            <p:ph sz="quarter" idx="32" hasCustomPrompt="1"/>
          </p:nvPr>
        </p:nvSpPr>
        <p:spPr>
          <a:xfrm>
            <a:off x="29900880" y="7114032"/>
            <a:ext cx="12801600" cy="7315200"/>
          </a:xfrm>
        </p:spPr>
        <p:txBody>
          <a:bodyPr lIns="91440" tIns="182880"/>
          <a:lstStyle>
            <a:lvl1pPr>
              <a:defRPr sz="3200" baseline="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28" name="Content Placeholder 17"/>
          <p:cNvSpPr>
            <a:spLocks noGrp="1"/>
          </p:cNvSpPr>
          <p:nvPr>
            <p:ph sz="quarter" idx="33" hasCustomPrompt="1"/>
          </p:nvPr>
        </p:nvSpPr>
        <p:spPr>
          <a:xfrm>
            <a:off x="29900880" y="14914834"/>
            <a:ext cx="12801600" cy="4538610"/>
          </a:xfrm>
        </p:spPr>
        <p:txBody>
          <a:bodyPr lIns="91440" tIns="182880"/>
          <a:lstStyle>
            <a:lvl1pPr>
              <a:defRPr sz="3200" baseline="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41" hasCustomPrompt="1"/>
          </p:nvPr>
        </p:nvSpPr>
        <p:spPr>
          <a:xfrm>
            <a:off x="29900880" y="19767596"/>
            <a:ext cx="12801600" cy="12192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540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0" name="Content Placeholder 17"/>
          <p:cNvSpPr>
            <a:spLocks noGrp="1"/>
          </p:cNvSpPr>
          <p:nvPr>
            <p:ph sz="quarter" idx="42" hasCustomPrompt="1"/>
          </p:nvPr>
        </p:nvSpPr>
        <p:spPr>
          <a:xfrm>
            <a:off x="29900880" y="21212348"/>
            <a:ext cx="12801600" cy="4344786"/>
          </a:xfrm>
        </p:spPr>
        <p:txBody>
          <a:bodyPr lIns="91440" tIns="182880"/>
          <a:lstStyle>
            <a:lvl1pPr>
              <a:defRPr sz="3200" baseline="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4" hasCustomPrompt="1"/>
          </p:nvPr>
        </p:nvSpPr>
        <p:spPr>
          <a:xfrm>
            <a:off x="29900880" y="25722072"/>
            <a:ext cx="12801600" cy="12192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540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0" name="Content Placeholder 17"/>
          <p:cNvSpPr>
            <a:spLocks noGrp="1"/>
          </p:cNvSpPr>
          <p:nvPr>
            <p:ph sz="quarter" idx="35" hasCustomPrompt="1"/>
          </p:nvPr>
        </p:nvSpPr>
        <p:spPr>
          <a:xfrm>
            <a:off x="29900880" y="27166824"/>
            <a:ext cx="12801600" cy="4462272"/>
          </a:xfrm>
        </p:spPr>
        <p:txBody>
          <a:bodyPr lIns="91440" tIns="182880"/>
          <a:lstStyle>
            <a:lvl1pPr>
              <a:defRPr sz="3200" baseline="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A57DF-1C19-4726-AB84-014692BAD8F5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C631-C489-4C11-812F-2172FBEAE8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43"/>
          </p:nvPr>
        </p:nvSpPr>
        <p:spPr>
          <a:xfrm>
            <a:off x="32270700" y="0"/>
            <a:ext cx="11620500" cy="3842445"/>
          </a:xfrm>
          <a:effectDag name="">
            <a:cont type="tree" name="">
              <a:effect ref="fillLine"/>
              <a:alphaMod>
                <a:cont name="">
                  <a:fill>
                    <a:gradFill>
                      <a:gsLst>
                        <a:gs pos="60000">
                          <a:srgbClr val="000000">
                            <a:alpha val="100000"/>
                          </a:srgbClr>
                        </a:gs>
                        <a:gs pos="97000">
                          <a:srgbClr val="000000">
                            <a:alpha val="0"/>
                          </a:srgbClr>
                        </a:gs>
                      </a:gsLst>
                      <a:lin ang="10800000"/>
                    </a:gradFill>
                  </a:fill>
                </a:cont>
              </a:alphaMod>
            </a:cont>
          </a:effectDag>
        </p:spPr>
        <p:txBody>
          <a:bodyPr lIns="91440" tIns="457200" rIns="9144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077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68" userDrawn="1">
          <p15:clr>
            <a:srgbClr val="A4A3A4"/>
          </p15:clr>
        </p15:guide>
        <p15:guide id="2" pos="18480" userDrawn="1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ltGray">
          <a:xfrm>
            <a:off x="0" y="0"/>
            <a:ext cx="43891200" cy="5029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158240" y="685860"/>
            <a:ext cx="30175200" cy="2971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8240" y="6019800"/>
            <a:ext cx="41589960" cy="23629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3000" y="32114698"/>
            <a:ext cx="987552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A57DF-1C19-4726-AB84-014692BAD8F5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18520" y="32114698"/>
            <a:ext cx="2185416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872680" y="32114698"/>
            <a:ext cx="987552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4C631-C489-4C11-812F-2172FBEAE8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gray">
          <a:xfrm>
            <a:off x="0" y="3886200"/>
            <a:ext cx="43891200" cy="1143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3886200"/>
            <a:ext cx="43891200" cy="0"/>
          </a:xfrm>
          <a:prstGeom prst="line">
            <a:avLst/>
          </a:prstGeom>
          <a:ln w="114300"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07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11500" b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720" userDrawn="1">
          <p15:clr>
            <a:srgbClr val="A4A3A4"/>
          </p15:clr>
        </p15:guide>
        <p15:guide id="3" pos="26928" userDrawn="1">
          <p15:clr>
            <a:srgbClr val="A4A3A4"/>
          </p15:clr>
        </p15:guide>
        <p15:guide id="4" pos="1382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Travel Database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85800" y="3979605"/>
            <a:ext cx="41671240" cy="963640"/>
          </a:xfrm>
        </p:spPr>
        <p:txBody>
          <a:bodyPr/>
          <a:lstStyle/>
          <a:p>
            <a:r>
              <a:rPr lang="en-US" dirty="0"/>
              <a:t>Caroline Smith | Huntington University | CS 415 Database Management – Fall 2025 - Final Project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25"/>
          </p:nvPr>
        </p:nvSpPr>
        <p:spPr>
          <a:xfrm>
            <a:off x="1188720" y="6965734"/>
            <a:ext cx="12801600" cy="3808991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Database will be used for organization of travel information and efficiency of planning future trips</a:t>
            </a:r>
          </a:p>
          <a:p>
            <a:r>
              <a:rPr lang="en-US" dirty="0"/>
              <a:t>Multiple tables will be used in helping organize different aspects of trip-planning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1143000" y="19247495"/>
            <a:ext cx="24207996" cy="1100129"/>
          </a:xfrm>
        </p:spPr>
        <p:txBody>
          <a:bodyPr/>
          <a:lstStyle/>
          <a:p>
            <a:r>
              <a:rPr lang="en-US" dirty="0"/>
              <a:t>ER Model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14801850" y="5554980"/>
            <a:ext cx="12801600" cy="1249680"/>
          </a:xfrm>
        </p:spPr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70" name="Text Placeholder 69"/>
          <p:cNvSpPr>
            <a:spLocks noGrp="1"/>
          </p:cNvSpPr>
          <p:nvPr>
            <p:ph type="body" sz="quarter" idx="40"/>
          </p:nvPr>
        </p:nvSpPr>
        <p:spPr>
          <a:xfrm>
            <a:off x="29555440" y="19993148"/>
            <a:ext cx="12801600" cy="1219200"/>
          </a:xfrm>
        </p:spPr>
        <p:txBody>
          <a:bodyPr/>
          <a:lstStyle/>
          <a:p>
            <a:r>
              <a:rPr lang="en-US" dirty="0"/>
              <a:t>Queries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28346400" y="5458316"/>
            <a:ext cx="15219680" cy="1365642"/>
          </a:xfrm>
        </p:spPr>
        <p:txBody>
          <a:bodyPr/>
          <a:lstStyle/>
          <a:p>
            <a:r>
              <a:rPr lang="en-US" dirty="0"/>
              <a:t>Reports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52BFEF-49C5-9959-C3E6-B091CB2C364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88720" y="11527430"/>
            <a:ext cx="12801600" cy="1219200"/>
          </a:xfrm>
        </p:spPr>
        <p:txBody>
          <a:bodyPr/>
          <a:lstStyle/>
          <a:p>
            <a:r>
              <a:rPr lang="en-US" dirty="0"/>
              <a:t>Design</a:t>
            </a:r>
          </a:p>
        </p:txBody>
      </p:sp>
      <p:sp>
        <p:nvSpPr>
          <p:cNvPr id="28" name="Content Placeholder 11">
            <a:extLst>
              <a:ext uri="{FF2B5EF4-FFF2-40B4-BE49-F238E27FC236}">
                <a16:creationId xmlns:a16="http://schemas.microsoft.com/office/drawing/2014/main" id="{E50E5B5E-DD9F-CFEA-93B8-500866A01D35}"/>
              </a:ext>
            </a:extLst>
          </p:cNvPr>
          <p:cNvSpPr txBox="1">
            <a:spLocks/>
          </p:cNvSpPr>
          <p:nvPr/>
        </p:nvSpPr>
        <p:spPr>
          <a:xfrm>
            <a:off x="1188720" y="13040908"/>
            <a:ext cx="12801600" cy="6440938"/>
          </a:xfrm>
          <a:prstGeom prst="rect">
            <a:avLst/>
          </a:prstGeom>
        </p:spPr>
        <p:txBody>
          <a:bodyPr vert="horz" lIns="91440" tIns="182880" rIns="91440" bIns="45720" rtlCol="0">
            <a:normAutofit/>
          </a:bodyPr>
          <a:lstStyle>
            <a:lvl1pPr marL="45720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6 tables:</a:t>
            </a:r>
          </a:p>
          <a:p>
            <a:pPr lvl="1"/>
            <a:r>
              <a:rPr lang="en-US" sz="3200" dirty="0"/>
              <a:t>Trip (parent table)</a:t>
            </a:r>
          </a:p>
          <a:p>
            <a:pPr lvl="1"/>
            <a:r>
              <a:rPr lang="en-US" sz="3200" dirty="0"/>
              <a:t>Flight</a:t>
            </a:r>
          </a:p>
          <a:p>
            <a:pPr lvl="1"/>
            <a:r>
              <a:rPr lang="en-US" sz="3200" dirty="0"/>
              <a:t>Hotel</a:t>
            </a:r>
          </a:p>
          <a:p>
            <a:pPr lvl="1"/>
            <a:r>
              <a:rPr lang="en-US" sz="3200" dirty="0"/>
              <a:t>Activity</a:t>
            </a:r>
          </a:p>
          <a:p>
            <a:pPr lvl="1"/>
            <a:r>
              <a:rPr lang="en-US" sz="3200" dirty="0"/>
              <a:t>Expense</a:t>
            </a:r>
          </a:p>
          <a:p>
            <a:pPr lvl="1"/>
            <a:r>
              <a:rPr lang="en-US" sz="3200" dirty="0"/>
              <a:t>Favorite</a:t>
            </a:r>
          </a:p>
          <a:p>
            <a:pPr marL="640080" lvl="1" indent="0">
              <a:buNone/>
            </a:pPr>
            <a:r>
              <a:rPr lang="en-US" sz="3200" dirty="0"/>
              <a:t>Each child table has a one-to-many relationship, keeping 3</a:t>
            </a:r>
            <a:r>
              <a:rPr lang="en-US" sz="3200" baseline="30000" dirty="0"/>
              <a:t>rd</a:t>
            </a:r>
            <a:r>
              <a:rPr lang="en-US" sz="3200" dirty="0"/>
              <a:t> Normal Form</a:t>
            </a:r>
          </a:p>
        </p:txBody>
      </p:sp>
      <p:sp>
        <p:nvSpPr>
          <p:cNvPr id="41" name="Content Placeholder 16">
            <a:extLst>
              <a:ext uri="{FF2B5EF4-FFF2-40B4-BE49-F238E27FC236}">
                <a16:creationId xmlns:a16="http://schemas.microsoft.com/office/drawing/2014/main" id="{3827A9AE-824D-EFA3-9385-3D8D1D0E98F0}"/>
              </a:ext>
            </a:extLst>
          </p:cNvPr>
          <p:cNvSpPr txBox="1">
            <a:spLocks/>
          </p:cNvSpPr>
          <p:nvPr/>
        </p:nvSpPr>
        <p:spPr>
          <a:xfrm>
            <a:off x="14285807" y="7049509"/>
            <a:ext cx="13317643" cy="7072117"/>
          </a:xfrm>
          <a:prstGeom prst="rect">
            <a:avLst/>
          </a:prstGeom>
        </p:spPr>
        <p:txBody>
          <a:bodyPr vert="horz" lIns="91440" tIns="182880" rIns="91440" bIns="45720" rtlCol="0">
            <a:normAutofit/>
          </a:bodyPr>
          <a:lstStyle>
            <a:lvl1pPr marL="45720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b="1" dirty="0"/>
              <a:t>TRIP</a:t>
            </a:r>
            <a:r>
              <a:rPr lang="en-US" dirty="0"/>
              <a:t> (</a:t>
            </a:r>
            <a:r>
              <a:rPr lang="en-US" dirty="0" err="1"/>
              <a:t>trip_name</a:t>
            </a:r>
            <a:r>
              <a:rPr lang="en-US" dirty="0"/>
              <a:t>, destination, </a:t>
            </a:r>
            <a:r>
              <a:rPr lang="en-US" dirty="0" err="1"/>
              <a:t>start_date</a:t>
            </a:r>
            <a:r>
              <a:rPr lang="en-US" dirty="0"/>
              <a:t>, </a:t>
            </a:r>
            <a:r>
              <a:rPr lang="en-US" dirty="0" err="1"/>
              <a:t>end_date</a:t>
            </a:r>
            <a:r>
              <a:rPr lang="en-US" dirty="0"/>
              <a:t>, notes)</a:t>
            </a:r>
          </a:p>
          <a:p>
            <a:pPr>
              <a:lnSpc>
                <a:spcPct val="150000"/>
              </a:lnSpc>
            </a:pPr>
            <a:r>
              <a:rPr lang="en-US" b="1" dirty="0"/>
              <a:t>FLIGHT</a:t>
            </a:r>
            <a:r>
              <a:rPr lang="en-US" dirty="0"/>
              <a:t> (</a:t>
            </a:r>
            <a:r>
              <a:rPr lang="en-US" dirty="0" err="1"/>
              <a:t>trip_id</a:t>
            </a:r>
            <a:r>
              <a:rPr lang="en-US" dirty="0"/>
              <a:t>, airline, </a:t>
            </a:r>
            <a:r>
              <a:rPr lang="en-US" dirty="0" err="1"/>
              <a:t>flight_num</a:t>
            </a:r>
            <a:r>
              <a:rPr lang="en-US" dirty="0"/>
              <a:t>, </a:t>
            </a:r>
            <a:r>
              <a:rPr lang="en-US" dirty="0" err="1"/>
              <a:t>depart_date</a:t>
            </a:r>
            <a:r>
              <a:rPr lang="en-US" dirty="0"/>
              <a:t>, </a:t>
            </a:r>
            <a:r>
              <a:rPr lang="en-US" dirty="0" err="1"/>
              <a:t>arrive_date</a:t>
            </a:r>
            <a:r>
              <a:rPr lang="en-US" dirty="0"/>
              <a:t>, </a:t>
            </a:r>
            <a:r>
              <a:rPr lang="en-US" dirty="0" err="1"/>
              <a:t>depart_airport</a:t>
            </a:r>
            <a:r>
              <a:rPr lang="en-US" dirty="0"/>
              <a:t>, </a:t>
            </a:r>
            <a:r>
              <a:rPr lang="en-US" dirty="0" err="1"/>
              <a:t>arrive_airport</a:t>
            </a:r>
            <a:r>
              <a:rPr lang="en-US" dirty="0"/>
              <a:t>, price)</a:t>
            </a:r>
          </a:p>
          <a:p>
            <a:pPr>
              <a:lnSpc>
                <a:spcPct val="150000"/>
              </a:lnSpc>
            </a:pPr>
            <a:r>
              <a:rPr lang="en-US" b="1" dirty="0"/>
              <a:t>HOTEL</a:t>
            </a:r>
            <a:r>
              <a:rPr lang="en-US" dirty="0"/>
              <a:t> (</a:t>
            </a:r>
            <a:r>
              <a:rPr lang="en-US" dirty="0" err="1"/>
              <a:t>trip_id</a:t>
            </a:r>
            <a:r>
              <a:rPr lang="en-US" dirty="0"/>
              <a:t>, </a:t>
            </a:r>
            <a:r>
              <a:rPr lang="en-US" dirty="0" err="1"/>
              <a:t>hotel_name</a:t>
            </a:r>
            <a:r>
              <a:rPr lang="en-US" dirty="0"/>
              <a:t>, </a:t>
            </a:r>
            <a:r>
              <a:rPr lang="en-US" dirty="0" err="1"/>
              <a:t>checkin_date</a:t>
            </a:r>
            <a:r>
              <a:rPr lang="en-US" dirty="0"/>
              <a:t>, </a:t>
            </a:r>
            <a:r>
              <a:rPr lang="en-US" dirty="0" err="1"/>
              <a:t>checkout_date</a:t>
            </a:r>
            <a:r>
              <a:rPr lang="en-US" dirty="0"/>
              <a:t>, address, </a:t>
            </a:r>
            <a:r>
              <a:rPr lang="en-US" dirty="0" err="1"/>
              <a:t>price_per_night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</a:pPr>
            <a:r>
              <a:rPr lang="en-US" dirty="0"/>
              <a:t>ACTIVITY (</a:t>
            </a:r>
            <a:r>
              <a:rPr lang="en-US" dirty="0" err="1"/>
              <a:t>trip_id</a:t>
            </a:r>
            <a:r>
              <a:rPr lang="en-US" dirty="0"/>
              <a:t>, </a:t>
            </a:r>
            <a:r>
              <a:rPr lang="en-US" dirty="0" err="1"/>
              <a:t>activity_date</a:t>
            </a:r>
            <a:r>
              <a:rPr lang="en-US" dirty="0"/>
              <a:t>, location, cost, category)</a:t>
            </a:r>
          </a:p>
          <a:p>
            <a:pPr>
              <a:lnSpc>
                <a:spcPct val="150000"/>
              </a:lnSpc>
            </a:pPr>
            <a:r>
              <a:rPr lang="en-US" b="1" dirty="0"/>
              <a:t>EXPENSE</a:t>
            </a:r>
            <a:r>
              <a:rPr lang="en-US" dirty="0"/>
              <a:t> (</a:t>
            </a:r>
            <a:r>
              <a:rPr lang="en-US" dirty="0" err="1"/>
              <a:t>trip_id</a:t>
            </a:r>
            <a:r>
              <a:rPr lang="en-US" dirty="0"/>
              <a:t>, category, amount, description, </a:t>
            </a:r>
            <a:r>
              <a:rPr lang="en-US" dirty="0" err="1"/>
              <a:t>expense_date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</a:pPr>
            <a:r>
              <a:rPr lang="en-US" b="1" dirty="0"/>
              <a:t>FAVORITE</a:t>
            </a:r>
            <a:r>
              <a:rPr lang="en-US" dirty="0"/>
              <a:t> (</a:t>
            </a:r>
            <a:r>
              <a:rPr lang="en-US" dirty="0" err="1"/>
              <a:t>trip_id</a:t>
            </a:r>
            <a:r>
              <a:rPr lang="en-US" dirty="0"/>
              <a:t>, </a:t>
            </a:r>
            <a:r>
              <a:rPr lang="en-US" dirty="0" err="1"/>
              <a:t>item_type</a:t>
            </a:r>
            <a:r>
              <a:rPr lang="en-US" dirty="0"/>
              <a:t>, </a:t>
            </a:r>
            <a:r>
              <a:rPr lang="en-US" dirty="0" err="1"/>
              <a:t>item_id</a:t>
            </a:r>
            <a:r>
              <a:rPr lang="en-US" dirty="0"/>
              <a:t>, rating)</a:t>
            </a:r>
          </a:p>
          <a:p>
            <a:endParaRPr lang="en-US" dirty="0"/>
          </a:p>
        </p:txBody>
      </p:sp>
      <p:pic>
        <p:nvPicPr>
          <p:cNvPr id="13" name="Picture 12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CAB4695C-DB34-5C58-2A88-B403B1A62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4477" y="7361266"/>
            <a:ext cx="10481603" cy="6507618"/>
          </a:xfrm>
          <a:prstGeom prst="rect">
            <a:avLst/>
          </a:prstGeom>
        </p:spPr>
      </p:pic>
      <p:pic>
        <p:nvPicPr>
          <p:cNvPr id="25" name="Picture 24" descr="A table of months and numbers&#10;&#10;AI-generated content may be incorrect.">
            <a:extLst>
              <a:ext uri="{FF2B5EF4-FFF2-40B4-BE49-F238E27FC236}">
                <a16:creationId xmlns:a16="http://schemas.microsoft.com/office/drawing/2014/main" id="{95A651C0-57C2-4BAA-21A6-8B79F897B2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4251" y="7049509"/>
            <a:ext cx="3894739" cy="12000008"/>
          </a:xfrm>
          <a:prstGeom prst="rect">
            <a:avLst/>
          </a:prstGeom>
        </p:spPr>
      </p:pic>
      <p:pic>
        <p:nvPicPr>
          <p:cNvPr id="32" name="Picture 31" descr="A diagram of a database&#10;&#10;AI-generated content may be incorrect.">
            <a:extLst>
              <a:ext uri="{FF2B5EF4-FFF2-40B4-BE49-F238E27FC236}">
                <a16:creationId xmlns:a16="http://schemas.microsoft.com/office/drawing/2014/main" id="{3DAA3B8A-A663-FBF2-3F12-10EE161EB2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19" y="21212348"/>
            <a:ext cx="24207997" cy="10610256"/>
          </a:xfrm>
          <a:prstGeom prst="rect">
            <a:avLst/>
          </a:prstGeom>
        </p:spPr>
      </p:pic>
      <p:sp>
        <p:nvSpPr>
          <p:cNvPr id="49" name="Content Placeholder 16">
            <a:extLst>
              <a:ext uri="{FF2B5EF4-FFF2-40B4-BE49-F238E27FC236}">
                <a16:creationId xmlns:a16="http://schemas.microsoft.com/office/drawing/2014/main" id="{0BB3526F-680F-8E43-1015-C3B44CB2C400}"/>
              </a:ext>
            </a:extLst>
          </p:cNvPr>
          <p:cNvSpPr txBox="1">
            <a:spLocks/>
          </p:cNvSpPr>
          <p:nvPr/>
        </p:nvSpPr>
        <p:spPr>
          <a:xfrm>
            <a:off x="28652018" y="21866678"/>
            <a:ext cx="14608444" cy="9108622"/>
          </a:xfrm>
          <a:prstGeom prst="rect">
            <a:avLst/>
          </a:prstGeom>
        </p:spPr>
        <p:txBody>
          <a:bodyPr vert="horz" lIns="91440" tIns="182880" rIns="91440" bIns="45720" rtlCol="0">
            <a:normAutofit/>
          </a:bodyPr>
          <a:lstStyle>
            <a:lvl1pPr marL="45720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Query 1:</a:t>
            </a:r>
            <a:r>
              <a:rPr lang="en-US" dirty="0"/>
              <a:t> Shows all trips and sorts them by start date and then by name.</a:t>
            </a:r>
          </a:p>
          <a:p>
            <a:r>
              <a:rPr lang="en-US" b="1" dirty="0"/>
              <a:t>Query 2:</a:t>
            </a:r>
            <a:r>
              <a:rPr lang="en-US" dirty="0"/>
              <a:t> Shows expenses for trip 1 and calculates each amount with 10% tax.</a:t>
            </a:r>
          </a:p>
          <a:p>
            <a:r>
              <a:rPr lang="en-US" b="1" dirty="0"/>
              <a:t>Query 3:</a:t>
            </a:r>
            <a:r>
              <a:rPr lang="en-US" dirty="0"/>
              <a:t> Shows New York trips and the month number of their start dates.</a:t>
            </a:r>
          </a:p>
          <a:p>
            <a:r>
              <a:rPr lang="en-US" b="1" dirty="0"/>
              <a:t>Query 4:</a:t>
            </a:r>
            <a:r>
              <a:rPr lang="en-US" dirty="0"/>
              <a:t> Shows total expenses per trip, only for trips costing more than 100.</a:t>
            </a:r>
          </a:p>
          <a:p>
            <a:r>
              <a:rPr lang="en-US" b="1" dirty="0"/>
              <a:t>Query 5:</a:t>
            </a:r>
            <a:r>
              <a:rPr lang="en-US" dirty="0"/>
              <a:t> Joins trips, hotels, and expenses to show each trip, its hotel, and total spending.</a:t>
            </a:r>
          </a:p>
          <a:p>
            <a:r>
              <a:rPr lang="en-US" b="1" dirty="0"/>
              <a:t>Query 6:</a:t>
            </a:r>
            <a:r>
              <a:rPr lang="en-US" dirty="0"/>
              <a:t> Shows trip 3 with any matching favorite items (or none if they don’t exist).</a:t>
            </a:r>
          </a:p>
          <a:p>
            <a:r>
              <a:rPr lang="en-US" b="1" dirty="0"/>
              <a:t>Query 7:</a:t>
            </a:r>
            <a:r>
              <a:rPr lang="en-US" dirty="0"/>
              <a:t> Checks a hotel’s price, updates it, and confirms the new price.</a:t>
            </a:r>
          </a:p>
          <a:p>
            <a:r>
              <a:rPr lang="en-US" b="1" dirty="0"/>
              <a:t>Query 8:</a:t>
            </a:r>
            <a:r>
              <a:rPr lang="en-US" dirty="0"/>
              <a:t> Shows an expense, deletes it, and verifies it’s gone.</a:t>
            </a:r>
          </a:p>
          <a:p>
            <a:r>
              <a:rPr lang="en-US" b="1" dirty="0"/>
              <a:t>Query 9:</a:t>
            </a:r>
            <a:r>
              <a:rPr lang="en-US" dirty="0"/>
              <a:t> Creates a view summarizing each trip and then displays it.</a:t>
            </a:r>
          </a:p>
          <a:p>
            <a:r>
              <a:rPr lang="en-US" b="1" dirty="0"/>
              <a:t>Query 10:</a:t>
            </a:r>
            <a:r>
              <a:rPr lang="en-US" dirty="0"/>
              <a:t> Changes hotel prices in a transaction, views the changes, then rolls them back.</a:t>
            </a:r>
          </a:p>
        </p:txBody>
      </p:sp>
    </p:spTree>
    <p:extLst>
      <p:ext uri="{BB962C8B-B14F-4D97-AF65-F5344CB8AC3E}">
        <p14:creationId xmlns:p14="http://schemas.microsoft.com/office/powerpoint/2010/main" val="931198942"/>
      </p:ext>
    </p:extLst>
  </p:cSld>
  <p:clrMapOvr>
    <a:masterClrMapping/>
  </p:clrMapOvr>
</p:sld>
</file>

<file path=ppt/theme/theme1.xml><?xml version="1.0" encoding="utf-8"?>
<a:theme xmlns:a="http://schemas.openxmlformats.org/drawingml/2006/main" name="Science Poster">
  <a:themeElements>
    <a:clrScheme name="Science Poster">
      <a:dk1>
        <a:srgbClr val="000000"/>
      </a:dk1>
      <a:lt1>
        <a:sysClr val="window" lastClr="FFFFFF"/>
      </a:lt1>
      <a:dk2>
        <a:srgbClr val="1B1B1B"/>
      </a:dk2>
      <a:lt2>
        <a:srgbClr val="E5E8E8"/>
      </a:lt2>
      <a:accent1>
        <a:srgbClr val="00B0EA"/>
      </a:accent1>
      <a:accent2>
        <a:srgbClr val="45AE22"/>
      </a:accent2>
      <a:accent3>
        <a:srgbClr val="FFFF00"/>
      </a:accent3>
      <a:accent4>
        <a:srgbClr val="F2760D"/>
      </a:accent4>
      <a:accent5>
        <a:srgbClr val="BB2B35"/>
      </a:accent5>
      <a:accent6>
        <a:srgbClr val="6C3CA2"/>
      </a:accent6>
      <a:hlink>
        <a:srgbClr val="00B0EA"/>
      </a:hlink>
      <a:folHlink>
        <a:srgbClr val="9696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sz="6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6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A3AC1795-03CA-4218-8E9C-394F2C72EB71}" vid="{9E91E023-53D0-48CE-AFD1-CE3DA49243D0}"/>
    </a:ext>
  </a:extLst>
</a:theme>
</file>

<file path=ppt/theme/theme2.xml><?xml version="1.0" encoding="utf-8"?>
<a:theme xmlns:a="http://schemas.openxmlformats.org/drawingml/2006/main" name="Office Theme">
  <a:themeElements>
    <a:clrScheme name="Science Poster">
      <a:dk1>
        <a:srgbClr val="000000"/>
      </a:dk1>
      <a:lt1>
        <a:sysClr val="window" lastClr="FFFFFF"/>
      </a:lt1>
      <a:dk2>
        <a:srgbClr val="1B1B1B"/>
      </a:dk2>
      <a:lt2>
        <a:srgbClr val="E5E8E8"/>
      </a:lt2>
      <a:accent1>
        <a:srgbClr val="00B0EA"/>
      </a:accent1>
      <a:accent2>
        <a:srgbClr val="45AE22"/>
      </a:accent2>
      <a:accent3>
        <a:srgbClr val="FFFF00"/>
      </a:accent3>
      <a:accent4>
        <a:srgbClr val="F2760D"/>
      </a:accent4>
      <a:accent5>
        <a:srgbClr val="BB2B35"/>
      </a:accent5>
      <a:accent6>
        <a:srgbClr val="6C3CA2"/>
      </a:accent6>
      <a:hlink>
        <a:srgbClr val="00B0EA"/>
      </a:hlink>
      <a:folHlink>
        <a:srgbClr val="9696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cience Poster">
      <a:dk1>
        <a:srgbClr val="000000"/>
      </a:dk1>
      <a:lt1>
        <a:sysClr val="window" lastClr="FFFFFF"/>
      </a:lt1>
      <a:dk2>
        <a:srgbClr val="1B1B1B"/>
      </a:dk2>
      <a:lt2>
        <a:srgbClr val="E5E8E8"/>
      </a:lt2>
      <a:accent1>
        <a:srgbClr val="00B0EA"/>
      </a:accent1>
      <a:accent2>
        <a:srgbClr val="45AE22"/>
      </a:accent2>
      <a:accent3>
        <a:srgbClr val="FFFF00"/>
      </a:accent3>
      <a:accent4>
        <a:srgbClr val="F2760D"/>
      </a:accent4>
      <a:accent5>
        <a:srgbClr val="BB2B35"/>
      </a:accent5>
      <a:accent6>
        <a:srgbClr val="6C3CA2"/>
      </a:accent6>
      <a:hlink>
        <a:srgbClr val="00B0EA"/>
      </a:hlink>
      <a:folHlink>
        <a:srgbClr val="9696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99B7E175-EA31-4EB5-9BCC-A945A810367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Science project poster</Template>
  <TotalTime>0</TotalTime>
  <Words>372</Words>
  <Application>Microsoft Macintosh PowerPoint</Application>
  <PresentationFormat>Custom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 Light</vt:lpstr>
      <vt:lpstr>Science Poster</vt:lpstr>
      <vt:lpstr>Travel Database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2016-11-28T02:36:27Z</dcterms:created>
  <dcterms:modified xsi:type="dcterms:W3CDTF">2025-12-08T06:25:12Z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TC040013439991</vt:lpwstr>
  </property>
</Properties>
</file>